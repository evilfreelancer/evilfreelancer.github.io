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3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t/s</c:v>
                </c:pt>
              </c:strCache>
            </c:strRef>
          </c:tx>
          <c:spPr>
            <a:solidFill>
              <a:srgbClr val="2F5B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Gemma 4 31B dense</c:v>
                  </c:pt>
                  <c:pt idx="1">
                    <c:v>Gemma 4 26B-A4B MoE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9.4</c:v>
                </c:pt>
                <c:pt idx="1">
                  <c:v>75.5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9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E4C5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KV-кэш</c:v>
                </c:pt>
              </c:strCache>
            </c:strRef>
          </c:tx>
          <c:spPr>
            <a:solidFill>
              <a:srgbClr val="2F5B8F"/>
            </a:solidFill>
            <a:ln w="38100" cap="flat">
              <a:solidFill>
                <a:srgbClr val="2F5B8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F5B8F"/>
              </a:solidFill>
              <a:ln w="9525" cap="flat">
                <a:solidFill>
                  <a:srgbClr val="2F5B8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</c:v>
                  </c:pt>
                  <c:pt idx="1">
                    <c:v>50k</c:v>
                  </c:pt>
                  <c:pt idx="2">
                    <c:v>100k</c:v>
                  </c:pt>
                  <c:pt idx="3">
                    <c:v>150k</c:v>
                  </c:pt>
                  <c:pt idx="4">
                    <c:v>200k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9</c:v>
                </c:pt>
                <c:pt idx="2">
                  <c:v>17.5</c:v>
                </c:pt>
                <c:pt idx="3">
                  <c:v>26</c:v>
                </c:pt>
                <c:pt idx="4">
                  <c:v>35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Веса (17 GB)</c:v>
                </c:pt>
              </c:strCache>
            </c:strRef>
          </c:tx>
          <c:spPr>
            <a:solidFill>
              <a:srgbClr val="9AA5B1"/>
            </a:solidFill>
            <a:ln w="38100" cap="flat">
              <a:solidFill>
                <a:srgbClr val="9AA5B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AA5B1"/>
              </a:solidFill>
              <a:ln w="9525" cap="flat">
                <a:solidFill>
                  <a:srgbClr val="9AA5B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</c:v>
                  </c:pt>
                  <c:pt idx="1">
                    <c:v>50k</c:v>
                  </c:pt>
                  <c:pt idx="2">
                    <c:v>100k</c:v>
                  </c:pt>
                  <c:pt idx="3">
                    <c:v>150k</c:v>
                  </c:pt>
                  <c:pt idx="4">
                    <c:v>200k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17</c:v>
                </c:pt>
                <c:pt idx="1">
                  <c:v>17</c:v>
                </c:pt>
                <c:pt idx="2">
                  <c:v>17</c:v>
                </c:pt>
                <c:pt idx="3">
                  <c:v>17</c:v>
                </c:pt>
                <c:pt idx="4">
                  <c:v>17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9AA5B1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9AA5B1"/>
                    </a:solidFill>
                    <a:latin typeface="Arial"/>
                  </a:rPr>
                  <a:t>Длина контекста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E4C5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0"/>
        </c:scaling>
        <c:delete val="0"/>
        <c:axPos val="l"/>
        <c:majorGridlines>
          <c:spPr>
            <a:ln w="6350" cap="flat">
              <a:solidFill>
                <a:srgbClr val="E1E5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9AA5B1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9AA5B1"/>
                    </a:solidFill>
                    <a:latin typeface="Arial"/>
                  </a:rPr>
                  <a:t>VRAM, GB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E4C5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E4C59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t/s</c:v>
                </c:pt>
              </c:strCache>
            </c:strRef>
          </c:tx>
          <c:spPr>
            <a:solidFill>
              <a:srgbClr val="2F5B8F"/>
            </a:solidFill>
            <a:effectLst/>
          </c:spPr>
          <c:invertIfNegative val="0"/>
          <c:dLbls>
            <c:numFmt formatCode="0 &quot;t/s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llama.cpp
(standard)</c:v>
                  </c:pt>
                  <c:pt idx="1">
                    <c:v>vLLM</c:v>
                  </c:pt>
                  <c:pt idx="2">
                    <c:v>Beellama
+ DFlash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37</c:v>
                </c:pt>
                <c:pt idx="1">
                  <c:v>82</c:v>
                </c:pt>
                <c:pt idx="2">
                  <c:v>164</c:v>
                </c:pt>
              </c:numCache>
            </c:numRef>
          </c:val>
        </c:ser>
        <c:dLbls>
          <c:numFmt formatCode="0 &quot;t/s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F29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E4C5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9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ivanopcode" TargetMode="External"/><Relationship Id="rId2" Type="http://schemas.openxmlformats.org/officeDocument/2006/relationships/hyperlink" Target="https://t.me/ivanopcode" TargetMode="External"/><Relationship Id="rId3" Type="http://schemas.openxmlformats.org/officeDocument/2006/relationships/hyperlink" Target="https://gitlab.wildberries.ru/portals/partner-mobile/agentic-infra" TargetMode="External"/><Relationship Id="rId4" Type="http://schemas.openxmlformats.org/officeDocument/2006/relationships/hyperlink" Target="https://github.com/ivanopcode/cocoaskills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64008" cy="1554480"/>
          </a:xfrm>
          <a:prstGeom prst="rect">
            <a:avLst/>
          </a:prstGeom>
          <a:solidFill>
            <a:srgbClr val="2F5B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3716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Локальные модели для кода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77240" y="22860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запускать, на чём и как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" y="29718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8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Podlodka, июль 2026.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8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Состояние экосистемы: начало июня 2026.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64008" cy="1554480"/>
          </a:xfrm>
          <a:prstGeom prst="rect">
            <a:avLst/>
          </a:prstGeom>
          <a:solidFill>
            <a:srgbClr val="2F5B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7548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Иван Опарин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152144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/ iOS в WB Partners. Сейчас развиваю внутреннюю агентскую инфраструктуру команды Partner Mobile.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170078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лет в разработке. LLM-энтузиаст со времён GPT-3.5.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24871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Путь к локальному инференсу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417320" y="3611880"/>
            <a:ext cx="6309360" cy="0"/>
          </a:xfrm>
          <a:prstGeom prst="line">
            <a:avLst/>
          </a:prstGeom>
          <a:noFill/>
          <a:ln w="25400">
            <a:solidFill>
              <a:srgbClr val="E1E5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8529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5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GPT-3.5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344168" y="3538728"/>
            <a:ext cx="146304" cy="146304"/>
          </a:xfrm>
          <a:prstGeom prst="ellipse">
            <a:avLst/>
          </a:prstGeom>
          <a:solidFill>
            <a:srgbClr val="2F5B8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75818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Интерес к LLM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651760" y="28529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5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Середина 2024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447288" y="3538728"/>
            <a:ext cx="146304" cy="146304"/>
          </a:xfrm>
          <a:prstGeom prst="ellipse">
            <a:avLst/>
          </a:prstGeom>
          <a:solidFill>
            <a:srgbClr val="2F5B8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375818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Локальный инференс: теория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54880" y="28529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5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Начало 2025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550408" y="3538728"/>
            <a:ext cx="146304" cy="146304"/>
          </a:xfrm>
          <a:prstGeom prst="ellipse">
            <a:avLst/>
          </a:prstGeom>
          <a:solidFill>
            <a:srgbClr val="2F5B8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375818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Практика: DeepSeek + Llama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858000" y="28529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5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Сейчас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653528" y="3538728"/>
            <a:ext cx="146304" cy="146304"/>
          </a:xfrm>
          <a:prstGeom prst="ellipse">
            <a:avLst/>
          </a:prstGeom>
          <a:solidFill>
            <a:srgbClr val="2F5B8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375818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Агентская инфраструктура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22960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Краткая история открытых весов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"слишком опасно публиковать" в 2019 до уровня GPT-4 на локальной машине сегодня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249680" cy="25146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54864" cy="2514600"/>
          </a:xfrm>
          <a:prstGeom prst="rect">
            <a:avLst/>
          </a:prstGeom>
          <a:solidFill>
            <a:srgbClr val="2F5B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1719072"/>
            <a:ext cx="1030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5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85216" y="2057400"/>
            <a:ext cx="1030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85216" y="2779776"/>
            <a:ext cx="10302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3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не публикует сразу: "слишком опасно"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1853184" y="1554480"/>
            <a:ext cx="1249680" cy="25146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53184" y="1554480"/>
            <a:ext cx="54864" cy="2514600"/>
          </a:xfrm>
          <a:prstGeom prst="rect">
            <a:avLst/>
          </a:prstGeom>
          <a:solidFill>
            <a:srgbClr val="2F5B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81200" y="1719072"/>
            <a:ext cx="1030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5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фев 2023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81200" y="2057400"/>
            <a:ext cx="1030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Утечка LLaMA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981200" y="2779776"/>
            <a:ext cx="10302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3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Веса утекают, рождается llama.cpp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3249168" y="1554480"/>
            <a:ext cx="1249680" cy="25146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49168" y="1554480"/>
            <a:ext cx="54864" cy="2514600"/>
          </a:xfrm>
          <a:prstGeom prst="rect">
            <a:avLst/>
          </a:prstGeom>
          <a:solidFill>
            <a:srgbClr val="2F5B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77184" y="1719072"/>
            <a:ext cx="1030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5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сен 2023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77184" y="2057400"/>
            <a:ext cx="1030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7B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377184" y="2779776"/>
            <a:ext cx="10302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3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Первая сильная модель под Apache 2.0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4645152" y="1554480"/>
            <a:ext cx="1249680" cy="25146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45152" y="1554480"/>
            <a:ext cx="54864" cy="2514600"/>
          </a:xfrm>
          <a:prstGeom prst="rect">
            <a:avLst/>
          </a:prstGeom>
          <a:solidFill>
            <a:srgbClr val="2F5B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1719072"/>
            <a:ext cx="1030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5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янв 2025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73168" y="2057400"/>
            <a:ext cx="1030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R1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773168" y="2779776"/>
            <a:ext cx="10302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3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в открытых весах, лицензия MIT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6041136" y="1554480"/>
            <a:ext cx="1249680" cy="25146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41136" y="1554480"/>
            <a:ext cx="54864" cy="2514600"/>
          </a:xfrm>
          <a:prstGeom prst="rect">
            <a:avLst/>
          </a:prstGeom>
          <a:solidFill>
            <a:srgbClr val="2F5B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69152" y="1719072"/>
            <a:ext cx="1030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5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авг 2025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69152" y="2057400"/>
            <a:ext cx="1030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gpt-oss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169152" y="2779776"/>
            <a:ext cx="10302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3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возвращается к открытым весам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7437120" y="1554480"/>
            <a:ext cx="1249680" cy="25146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37120" y="1554480"/>
            <a:ext cx="54864" cy="2514600"/>
          </a:xfrm>
          <a:prstGeom prst="rect">
            <a:avLst/>
          </a:prstGeom>
          <a:solidFill>
            <a:srgbClr val="2F5B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65136" y="1719072"/>
            <a:ext cx="1030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5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565136" y="2057400"/>
            <a:ext cx="1030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4 / Qwen 3.6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565136" y="2779776"/>
            <a:ext cx="10302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3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 GPT-4 в агентском цикле локально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822960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запускать модели локально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514246" cy="324612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34440"/>
            <a:ext cx="54864" cy="3246120"/>
          </a:xfrm>
          <a:prstGeom prst="rect">
            <a:avLst/>
          </a:prstGeom>
          <a:solidFill>
            <a:srgbClr val="2F5B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399032"/>
            <a:ext cx="12582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Приватность и закрытый контур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3504" y="2103120"/>
            <a:ext cx="125821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не покидают контур. Не нужно передавать чувствительную медицинскую, юридическую и корпоративную информацию третьим лицам.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136038" y="1234440"/>
            <a:ext cx="1514246" cy="324612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36038" y="1234440"/>
            <a:ext cx="54864" cy="3246120"/>
          </a:xfrm>
          <a:prstGeom prst="rect">
            <a:avLst/>
          </a:prstGeom>
          <a:solidFill>
            <a:srgbClr val="2F5B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2342" y="1399032"/>
            <a:ext cx="12582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Экономика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82342" y="2103120"/>
            <a:ext cx="125821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больших объёмах локальное железо дешевле облачных API. Обслуживание 5000 пользователей в облаке стоит миллионы (слайд 26).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814877" y="1234440"/>
            <a:ext cx="1514246" cy="324612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14877" y="1234440"/>
            <a:ext cx="54864" cy="3246120"/>
          </a:xfrm>
          <a:prstGeom prst="rect">
            <a:avLst/>
          </a:prstGeom>
          <a:solidFill>
            <a:srgbClr val="2F5B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61181" y="1399032"/>
            <a:ext cx="12582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и детерминизм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61181" y="2103120"/>
            <a:ext cx="125821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Веса зафиксированы. Нет принудительных обновлений, меняющих поведение продакшн-пайплайнов. Воспроизводимый результат.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93715" y="1234440"/>
            <a:ext cx="1514246" cy="324612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93715" y="1234440"/>
            <a:ext cx="54864" cy="3246120"/>
          </a:xfrm>
          <a:prstGeom prst="rect">
            <a:avLst/>
          </a:prstGeom>
          <a:solidFill>
            <a:srgbClr val="2F5B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40019" y="1399032"/>
            <a:ext cx="12582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и edge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640019" y="2103120"/>
            <a:ext cx="125821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в изолированных (air-gapped) контурах. Разгрузка облака за счёт переноса части задач на устройства сотрудников.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172554" y="1234440"/>
            <a:ext cx="1514246" cy="324612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72554" y="1234440"/>
            <a:ext cx="54864" cy="3246120"/>
          </a:xfrm>
          <a:prstGeom prst="rect">
            <a:avLst/>
          </a:prstGeom>
          <a:solidFill>
            <a:srgbClr val="2F5B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8858" y="1399032"/>
            <a:ext cx="12582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и кастомизация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8858" y="2103120"/>
            <a:ext cx="125821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Низкоуровневый доступ к логитам и attention. Возможность дообучения и точечного патчинга моделей.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22960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модели уже пишут код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семейства, закрывающие локальный кодинг летом 2026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3246120"/>
          </a:xfrm>
          <a:prstGeom prst="rect">
            <a:avLst/>
          </a:prstGeom>
          <a:solidFill>
            <a:srgbClr val="ECF1F6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54864" cy="3246120"/>
          </a:xfrm>
          <a:prstGeom prst="rect">
            <a:avLst/>
          </a:prstGeom>
          <a:solidFill>
            <a:srgbClr val="2F5B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51790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Qwen3.6 (Alibaba)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03504" y="1938528"/>
            <a:ext cx="2377440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03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27B dense и 35B-A3B MoE. Гибридный attention (Gated DeltaNet + Gated Attention), контекст 262K. Рабочая лошадка агентского кодинга: официальный MTP-драфтер, богатые community-кванты.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3246120" y="1371600"/>
            <a:ext cx="2651760" cy="324612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1371600"/>
            <a:ext cx="54864" cy="3246120"/>
          </a:xfrm>
          <a:prstGeom prst="rect">
            <a:avLst/>
          </a:prstGeom>
          <a:solidFill>
            <a:srgbClr val="9AA5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92424" y="151790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gpt-oss (OpenAI)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92424" y="1938528"/>
            <a:ext cx="2377440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03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 20B и 120B, активных 3.6B и 5.1B. Нативный MXFP4: 120B помещается в 80 GB, 20B живёт на 16 GB. Сильный tool calling через формат Harmony; проверенный агентский стек.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6035040" y="1371600"/>
            <a:ext cx="2651760" cy="324612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1371600"/>
            <a:ext cx="54864" cy="3246120"/>
          </a:xfrm>
          <a:prstGeom prst="rect">
            <a:avLst/>
          </a:prstGeom>
          <a:solidFill>
            <a:srgbClr val="9AA5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81344" y="151790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4 (Google)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81344" y="1938528"/>
            <a:ext cx="2377440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03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31B и 12B, MoE 26B-A4B, E-класс для слабого железа. 12B с дешёвым KV (hybrid attention) заводится на 8 GB. Для кода второй эшелон, силён в чате и мультимодальности.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822960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читать карточку модели за две минуты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Семь строк, которые решают, стоит ли качать веса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24612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54864" cy="3246120"/>
          </a:xfrm>
          <a:prstGeom prst="rect">
            <a:avLst/>
          </a:prstGeom>
          <a:solidFill>
            <a:srgbClr val="2F5B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72768"/>
            <a:ext cx="77724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Активные и общие параметры: A3B в имени важнее, чем 35B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Контекст: нативный и растянутый (YaRN) это разные режимы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Лицензия: Apache 2.0 / MIT против кастомных условий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Официальный QAT или кванты: если есть, бери их вместо community-GGUF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First-party MTP или драфтер: ускорение из коробки, без внешних файлов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Sampling-рекомендации: у Qwen3.6 три официальных режима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 tool calling: без него агентский цикл не поедет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Бенчмарки: за чем следить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к чему относиться с осторожностью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41648" cy="265176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54864" cy="2651760"/>
          </a:xfrm>
          <a:prstGeom prst="rect">
            <a:avLst/>
          </a:prstGeom>
          <a:solidFill>
            <a:srgbClr val="9AA5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517904"/>
            <a:ext cx="3712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Следить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21792" y="1920240"/>
            <a:ext cx="371246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SWE-bench Verified, LiveCodeBench, Terminal-Bench. Смотреть динамику между релизами; абсолют одной цифры мало о чём говорит. Для агентских задач важнее multi-turn бенчи, чем single-shot генерация функции.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45152" y="1371600"/>
            <a:ext cx="4041648" cy="2651760"/>
          </a:xfrm>
          <a:prstGeom prst="rect">
            <a:avLst/>
          </a:prstGeom>
          <a:solidFill>
            <a:srgbClr val="ECF1F6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45152" y="1371600"/>
            <a:ext cx="54864" cy="2651760"/>
          </a:xfrm>
          <a:prstGeom prst="rect">
            <a:avLst/>
          </a:prstGeom>
          <a:solidFill>
            <a:srgbClr val="2F5B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9744" y="1517904"/>
            <a:ext cx="3712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осторожностью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809744" y="1920240"/>
            <a:ext cx="371246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Одиночные HumanEval-цифры (переобучены давно). Community-замеры без даты и билда. Маркетинговые коэффициенты скорости и цены без первоисточника рядом.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4224528"/>
            <a:ext cx="54864" cy="548640"/>
          </a:xfrm>
          <a:prstGeom prst="rect">
            <a:avLst/>
          </a:prstGeom>
          <a:solidFill>
            <a:srgbClr val="2F5B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" y="4187952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Правило: любой бенч это ориентир на конкретном билде. Перед покупкой железа перепроверяйте на своём сценарии и своём стеке.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2960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Скорость задают активные параметры, объём памяти задаёт общий размер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87452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54864" cy="1874520"/>
          </a:xfrm>
          <a:prstGeom prst="rect">
            <a:avLst/>
          </a:prstGeom>
          <a:solidFill>
            <a:srgbClr val="2F5B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31673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Dense: читаются все веса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3504" y="17373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параметров участвуют в каждом токене. Один forward pass читает всю модель.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03504" y="24688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Пример: Gemma 4 31B (всего 31B, активных 31B)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Max: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 t/s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023360" cy="187452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188720"/>
            <a:ext cx="54864" cy="1874520"/>
          </a:xfrm>
          <a:prstGeom prst="rect">
            <a:avLst/>
          </a:prstGeom>
          <a:solidFill>
            <a:srgbClr val="2F5B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9744" y="131673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MoE: читается малая часть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809744" y="17373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Роутер выбирает подмножество экспертов. Общий размер расходует VRAM, активные параметры определяют скорость.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09744" y="24688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Пример: Gemma 4 26B-A4B (всего 25.2B, активных 3.8B)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Max: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2F5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75.5 t/s</a:t>
            </a:r>
            <a:endParaRPr lang="en-US" sz="105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457200" y="3246120"/>
          <a:ext cx="393192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/>
          <p:nvPr/>
        </p:nvSpPr>
        <p:spPr>
          <a:xfrm>
            <a:off x="4572000" y="338328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Ключевой вывод.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Внутри одного семейства: MoE на 3.8B активных генерирует в 8 раз быстрее dense 31B. Скорость задают активные параметры; расплата MoE это качество на части задач.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4864608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Замеры на M3 Max 128GB; t/s зависят от билда. Перед покупкой перепроверяйте на своём сценарии.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822960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лимита железа: объём и пропускная способность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8229600" cy="155448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34440"/>
            <a:ext cx="54864" cy="1554480"/>
          </a:xfrm>
          <a:prstGeom prst="rect">
            <a:avLst/>
          </a:prstGeom>
          <a:solidFill>
            <a:srgbClr val="2F5B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Лимит 1. VRAM (вместимость)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Барьер: 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веса модели + KV-кэш + overhead фреймворка должны физически поместиться в память. Превышение даёт OOM (out of memory).</a:t>
            </a:r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квантизация весов (mixed Q4, pure Q4, нативный NVFP4).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971800"/>
            <a:ext cx="8229600" cy="169164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971800"/>
            <a:ext cx="54864" cy="1691640"/>
          </a:xfrm>
          <a:prstGeom prst="rect">
            <a:avLst/>
          </a:prstGeom>
          <a:solidFill>
            <a:srgbClr val="2F5B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1089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Лимит 2. Bandwidth (пропускная способность)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3520440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Барьер: 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скорость генерации ограничена скоростью чтения активных весов из памяти на каждом шаге.</a:t>
            </a:r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NVIDIA: 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высокая пропускная способность памяти + tensor cores, скорость стабильна. </a:t>
            </a:r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Silicon: 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большой объём (до 128 GB unified memory), но prefill резко замедляется на контексте свыше ~40k токенов.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28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KV-кэш на длинном контексте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32588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4846320" y="1325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Растёт линейно с контекстом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4846320" y="1627632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KV-кэш хранит attention-состояния прошлых токенов. На 200k он занимает десятки гигабайт и обгоняет веса, становясь главным потребителем VRAM.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846320" y="25420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KV (q8/q4)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846320" y="2843784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Ключи K чувствительны для tool-calling, держат в q8_0. Значения V допускают сжатие до q4_0 без потери качества.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846320" y="35844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Чувствительность к сжатию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846320" y="38862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Qwen3.6: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переносит q8/q4 хорошо, нулевая потеря на поиске до 96k. 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4: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чувствительна, q8_0 уже даёт расхождение KL 0.108.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22960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28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 оборудования по объёму VRAM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реально запускается по классам VRAM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737360"/>
                <a:gridCol w="3474720"/>
                <a:gridCol w="17373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Класс VRAM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B8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Референсные карты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B8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реально запускается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B8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Рабочий контекст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B8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GB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E4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RTX 3050, 4060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E4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 Gemma 12B (Q4_0 ~6.7GB); 27B не влезает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E4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короткий; KV дёшев (hybrid attention)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GB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E4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RTX 4080, 5060 Ti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E4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Qwen3.6-27B только pure Q4 (качество ниже в 2-3 раза)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E4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 64k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GB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E4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RTX 3090, 4090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E4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Qwen3.6-27B mixed Q4 или 35B MoE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E4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110k-400k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GB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E4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RTX 5090 desktop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E4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Qwen3.6-27B нативный NVFP4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E4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 218k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 Silicon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E4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 Max (128 GB)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E4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Крупные MoE (120B); узкое место prefill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E4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ограничен скоростью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517136"/>
            <a:ext cx="54864" cy="402336"/>
          </a:xfrm>
          <a:prstGeom prst="rect">
            <a:avLst/>
          </a:prstGeom>
          <a:solidFill>
            <a:srgbClr val="2F5B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03504" y="448056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Принципы (активные параметры, пропускная способность, KV) от железа не зависят, поэтому экспериментировать стоит уже сейчас на любой карте. Через год тот же класс задач закроет ещё более скромное железо.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22960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28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Квантизация на практике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ужать модель и сохранить качество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41648" cy="164592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25880"/>
            <a:ext cx="54864" cy="1645920"/>
          </a:xfrm>
          <a:prstGeom prst="rect">
            <a:avLst/>
          </a:prstGeom>
          <a:solidFill>
            <a:srgbClr val="2F5B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453896"/>
            <a:ext cx="3712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против pure Q4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" y="1828800"/>
            <a:ext cx="371246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9000"/>
              </a:lnSpc>
              <a:buNone/>
            </a:pPr>
            <a:r>
              <a:rPr lang="en-US" sz="10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держит важные слои в Q6/Q8, остальное в Q4. При близком размере файла качество отличается в разы. Pure Q4 берут только при жёстком лимите 16 GB.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45152" y="1325880"/>
            <a:ext cx="4041648" cy="164592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45152" y="1325880"/>
            <a:ext cx="54864" cy="1645920"/>
          </a:xfrm>
          <a:prstGeom prst="rect">
            <a:avLst/>
          </a:prstGeom>
          <a:solidFill>
            <a:srgbClr val="2F5B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9744" y="1453896"/>
            <a:ext cx="3712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NVFP4 на Blackwell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9744" y="1828800"/>
            <a:ext cx="371246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9000"/>
              </a:lnSpc>
              <a:buNone/>
            </a:pPr>
            <a:r>
              <a:rPr lang="en-US" sz="10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Нативный FP4 на RTX 5090: удвоенный FP8 throughput на tensor cores, 218K контекста на 32 GB без дополнительных ухищрений.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4041648" cy="164592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108960"/>
            <a:ext cx="54864" cy="1645920"/>
          </a:xfrm>
          <a:prstGeom prst="rect">
            <a:avLst/>
          </a:prstGeom>
          <a:solidFill>
            <a:srgbClr val="2F5B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3236976"/>
            <a:ext cx="3712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QAT-релизы как новая норма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" y="3611880"/>
            <a:ext cx="371246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9000"/>
              </a:lnSpc>
              <a:buNone/>
            </a:pPr>
            <a:r>
              <a:rPr lang="en-US" sz="10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4 и MiMo выкладывают официально проквантованные чекпойнты: модель обучена под целевую точность. Есть официальный QAT? Бери его вместо community-GGUF.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45152" y="3108960"/>
            <a:ext cx="4041648" cy="164592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45152" y="3108960"/>
            <a:ext cx="54864" cy="1645920"/>
          </a:xfrm>
          <a:prstGeom prst="rect">
            <a:avLst/>
          </a:prstGeom>
          <a:solidFill>
            <a:srgbClr val="2F5B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9744" y="3236976"/>
            <a:ext cx="3712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KV-кэш: q8/q4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09744" y="3611880"/>
            <a:ext cx="371246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9000"/>
              </a:lnSpc>
              <a:buNone/>
            </a:pPr>
            <a:r>
              <a:rPr lang="en-US" sz="10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Ключи K чувствительны (ломают tool calls), держи q8_0. Значения V сжимаются до q4_0 почти без потерь. На спекулятивном пути промежуточные q5 избегать.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28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Влияние движка на скорость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Qwen3.6-27B на RTX 3090: разброс до 4.4x. Стек влияет и на агентское качество (9.0 против 6.5)</a:t>
            </a:r>
            <a:endParaRPr lang="en-US" sz="12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46634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394960" y="1435608"/>
            <a:ext cx="54864" cy="868680"/>
          </a:xfrm>
          <a:prstGeom prst="rect">
            <a:avLst/>
          </a:prstGeom>
          <a:solidFill>
            <a:srgbClr val="9AA5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541264" y="1417320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llama.cpp (standard)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541264" y="1700784"/>
            <a:ext cx="31455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Универсальный и портируемый, не оптимизирован под пик NVIDIA. База: ~37 t/s.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394960" y="2514600"/>
            <a:ext cx="54864" cy="868680"/>
          </a:xfrm>
          <a:prstGeom prst="rect">
            <a:avLst/>
          </a:prstGeom>
          <a:solidFill>
            <a:srgbClr val="9AA5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541264" y="2496312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(~2.2x)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541264" y="2779776"/>
            <a:ext cx="31455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Продакшн-класс. Зрелее всего на CUDA; есть ROCm/XPU/Metal, parity зависит от платформы. CUDA graphs, Responses API.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394960" y="3593592"/>
            <a:ext cx="54864" cy="868680"/>
          </a:xfrm>
          <a:prstGeom prst="rect">
            <a:avLst/>
          </a:prstGeom>
          <a:solidFill>
            <a:srgbClr val="2F5B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41264" y="3575304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Beellama + DFlash (4.4x)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541264" y="3858768"/>
            <a:ext cx="31455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Максимальная утилизация через block-diffusion драфтер. Обгоняет 4090 на стандартном стеке.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" y="4864608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Community-бенчи на RTX 3090, конкретные билды. Проверяйте на своём железе.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22960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28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Стеки взрослеют быстрее моделей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sensitivity: сборка решает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41648" cy="32004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54864" cy="3200400"/>
          </a:xfrm>
          <a:prstGeom prst="rect">
            <a:avLst/>
          </a:prstGeom>
          <a:solidFill>
            <a:srgbClr val="9AA5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517904"/>
            <a:ext cx="3712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+82% за три недели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21792" y="1920240"/>
            <a:ext cx="371246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 замер на M3 Max: та же модель, то же железо, свежая сборка llama.cpp из исходников. Свежесть проверяют через git log; дата публикации треда с бенчем ничего не гарантирует.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45152" y="1371600"/>
            <a:ext cx="4041648" cy="3200400"/>
          </a:xfrm>
          <a:prstGeom prst="rect">
            <a:avLst/>
          </a:prstGeom>
          <a:solidFill>
            <a:srgbClr val="ECF1F6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45152" y="1371600"/>
            <a:ext cx="54864" cy="3200400"/>
          </a:xfrm>
          <a:prstGeom prst="rect">
            <a:avLst/>
          </a:prstGeom>
          <a:solidFill>
            <a:srgbClr val="2F5B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9744" y="1517904"/>
            <a:ext cx="3712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 t/s на 5090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809744" y="1920240"/>
            <a:ext cx="371246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Community-кейс (июнь 2026): llama.cpp с патчами prompt-кеша под гибридный attention, Q6_K + MTP, контекст 192K. Среднее 140 t/s на 20 часах агентского кодинга; штатный путь давал около 80.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4864608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Community-кейс на конкретном билде (86b9470 + патчи); гарантий воспроизводимости нет.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22960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28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Speculative decoding: ускорение генерации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331720" cy="868680"/>
          </a:xfrm>
          <a:prstGeom prst="rect">
            <a:avLst/>
          </a:prstGeom>
          <a:solidFill>
            <a:srgbClr val="F4F6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3258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Драфтер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предсказывает 3-6 токенов (compute-bound)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889504" y="1549908"/>
            <a:ext cx="237744" cy="237744"/>
          </a:xfrm>
          <a:prstGeom prst="rightArrow">
            <a:avLst/>
          </a:prstGeom>
          <a:solidFill>
            <a:srgbClr val="2F5B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46120" y="1234440"/>
            <a:ext cx="2743200" cy="868680"/>
          </a:xfrm>
          <a:prstGeom prst="rect">
            <a:avLst/>
          </a:prstGeom>
          <a:solidFill>
            <a:srgbClr val="2F5B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55848" y="1325880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Основная модель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верифицирует их за один проход памяти (bandwidth-bound)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089904" y="1549908"/>
            <a:ext cx="237744" cy="237744"/>
          </a:xfrm>
          <a:prstGeom prst="rightArrow">
            <a:avLst/>
          </a:prstGeom>
          <a:solidFill>
            <a:srgbClr val="2F5B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46520" y="1234440"/>
            <a:ext cx="1783080" cy="868680"/>
          </a:xfrm>
          <a:prstGeom prst="rect">
            <a:avLst/>
          </a:prstGeom>
          <a:solidFill>
            <a:srgbClr val="F4F6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56248" y="1325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Выигрыш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несколько токенов за стоимость одного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2651760" cy="224028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423160"/>
            <a:ext cx="54864" cy="2240280"/>
          </a:xfrm>
          <a:prstGeom prst="rect">
            <a:avLst/>
          </a:prstGeom>
          <a:solidFill>
            <a:srgbClr val="9AA5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" y="255117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Механизм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03504" y="2898648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спекуляции каждый токен упирается в память. Маленький драфтер дёшево предсказывает 3-6 токенов, основная модель проверяет их все за один проход.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3246120" y="2423160"/>
            <a:ext cx="2651760" cy="224028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46120" y="2423160"/>
            <a:ext cx="54864" cy="2240280"/>
          </a:xfrm>
          <a:prstGeom prst="rect">
            <a:avLst/>
          </a:prstGeom>
          <a:solidFill>
            <a:srgbClr val="2F5B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92424" y="255117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Стандарты (июнь 2026)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392424" y="2898648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MTP (Multi-Token Prediction): first-party, веса от команд моделей (Qwen3.6, Gemma 4). Ускорение 1.5x-3x без доп. файлов.</a:t>
            </a:r>
            <a:endParaRPr lang="en-US" sz="98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DFlash (block diffusion): paper UC San Diego, поддержка в vLLM и SGLang при участии NVIDIA; до 164 t/s на 3090, до 15x на Blackwell по блогу NVIDIA.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6035040" y="2423160"/>
            <a:ext cx="2651760" cy="224028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0" y="2423160"/>
            <a:ext cx="54864" cy="2240280"/>
          </a:xfrm>
          <a:prstGeom prst="rect">
            <a:avLst/>
          </a:prstGeom>
          <a:solidFill>
            <a:srgbClr val="9AA5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81344" y="255117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Silicon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181344" y="2898648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проверенном llama.cpp/Metal пути выигрыша обычно нет: верификация съедает прирост, MTP даже замедляет (~9%), спекуляцию отключают. MLX-native и DFlash через MLX это отдельная ветка.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457200" y="4864608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Цифры это замеры и community-бенчи на конкретных билдах.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22960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28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Харнесс: два пути к агенту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 клиента определяет объём обвязки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41648" cy="265176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54864" cy="2651760"/>
          </a:xfrm>
          <a:prstGeom prst="rect">
            <a:avLst/>
          </a:prstGeom>
          <a:solidFill>
            <a:srgbClr val="9AA5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517904"/>
            <a:ext cx="3712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Путь A. Cline-класс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21792" y="1920240"/>
            <a:ext cx="371246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+ Cline и похожие клиенты. Chat Completions, агентский цикл на стороне клиента: сам парсит tool calls, сам держит состояние. Заводится из коробки на любом OpenAI-совместимом сервере, включая LM Studio.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45152" y="1371600"/>
            <a:ext cx="4041648" cy="2651760"/>
          </a:xfrm>
          <a:prstGeom prst="rect">
            <a:avLst/>
          </a:prstGeom>
          <a:solidFill>
            <a:srgbClr val="ECF1F6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45152" y="1371600"/>
            <a:ext cx="54864" cy="2651760"/>
          </a:xfrm>
          <a:prstGeom prst="rect">
            <a:avLst/>
          </a:prstGeom>
          <a:solidFill>
            <a:srgbClr val="2F5B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9744" y="1517904"/>
            <a:ext cx="3712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Путь B. Codex CLI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809744" y="1920240"/>
            <a:ext cx="371246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Строгий Responses API и SSE-lifecycle. Требует шим-слой (ORS) между клиентом и сервером. Взамен: терминальный агент, жёсткий контроль протокола и reasoning-состояния.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4224528"/>
            <a:ext cx="54864" cy="548640"/>
          </a:xfrm>
          <a:prstGeom prst="rect">
            <a:avLst/>
          </a:prstGeom>
          <a:solidFill>
            <a:srgbClr val="2F5B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" y="4187952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Общее ядро: CoT passback. Reasoning обязан возвращаться в следующий тёрн; без этого F1 падает с 1.0 до 0.3 и агент зацикливается. Дальше два слайда про это.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2960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28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модели мало для агента: три сбоя интеграции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Между моделью и автономным агентом стоит слой инфраструктуры, который ломается чаще самих моделей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51760" cy="306324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54864" cy="3063240"/>
          </a:xfrm>
          <a:prstGeom prst="rect">
            <a:avLst/>
          </a:prstGeom>
          <a:solidFill>
            <a:srgbClr val="9AA5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5636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Сбой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03504" y="185623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Несовместимость API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3504" y="2496312"/>
            <a:ext cx="23774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Агенты ждут современный /v1/responses (OpenAI spec). Большинство локальных серверов по умолчанию отдают устаревший Chat Completions.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651760" cy="306324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417320"/>
            <a:ext cx="54864" cy="3063240"/>
          </a:xfrm>
          <a:prstGeom prst="rect">
            <a:avLst/>
          </a:prstGeom>
          <a:solidFill>
            <a:srgbClr val="9AA5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92424" y="15636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Сбой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92424" y="185623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Искажение SSE-событий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92424" y="2496312"/>
            <a:ext cx="23774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Локальные серверы нарушают спецификацию Server-Sent Events. Агент получает статус ready вместо completed, не парсит tool calls и выдаёт пустой ответ.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6035040" y="1417320"/>
            <a:ext cx="2651760" cy="3063240"/>
          </a:xfrm>
          <a:prstGeom prst="rect">
            <a:avLst/>
          </a:prstGeom>
          <a:solidFill>
            <a:srgbClr val="ECF1F6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1417320"/>
            <a:ext cx="54864" cy="3063240"/>
          </a:xfrm>
          <a:prstGeom prst="rect">
            <a:avLst/>
          </a:prstGeom>
          <a:solidFill>
            <a:srgbClr val="2F5B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81344" y="15636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5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Сбой 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81344" y="185623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 passback (критический)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81344" y="2496312"/>
            <a:ext cx="23774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Reasoning-модели генерируют скрытые блоки think. Если клиент не возвращает цепочку в следующий запрос, модель забывает выводы: F1 падает с 1.0 до 0.3, возникает цикл.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822960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28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Агентский стек: промежуточный слой ORS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Независимый шим (Open-Responses-Server) перехватывает, нормализует и реинжектит данные на лету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42032" cy="278892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54864" cy="2788920"/>
          </a:xfrm>
          <a:prstGeom prst="rect">
            <a:avLst/>
          </a:prstGeom>
          <a:solidFill>
            <a:srgbClr val="9AA5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609344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1. Агент / клиент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21792" y="2029968"/>
            <a:ext cx="223113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CLI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Говорит на строгом /v1/responses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Генерирует команды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00984" y="1463040"/>
            <a:ext cx="2542032" cy="2788920"/>
          </a:xfrm>
          <a:prstGeom prst="rect">
            <a:avLst/>
          </a:prstGeom>
          <a:solidFill>
            <a:srgbClr val="ECF1F6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00984" y="1463040"/>
            <a:ext cx="54864" cy="2788920"/>
          </a:xfrm>
          <a:prstGeom prst="rect">
            <a:avLst/>
          </a:prstGeom>
          <a:solidFill>
            <a:srgbClr val="2F5B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47288" y="1609344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5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2. ORS Shim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465576" y="2029968"/>
            <a:ext cx="223113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Конвертирует протоколы на лету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Чинит 9 критических багов SSE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Перехватывает think, копит по ходам и реинжектит обратно, решая CoT passback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44768" y="1463040"/>
            <a:ext cx="2542032" cy="278892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44768" y="1463040"/>
            <a:ext cx="54864" cy="2788920"/>
          </a:xfrm>
          <a:prstGeom prst="rect">
            <a:avLst/>
          </a:prstGeom>
          <a:solidFill>
            <a:srgbClr val="9AA5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91072" y="1609344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3. Llama-server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09360" y="2029968"/>
            <a:ext cx="223113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Исполнение модели: KV-кэш, MTP, тензорные вычисления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обрабатывает логику агентских состояний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035808" y="2738628"/>
            <a:ext cx="237744" cy="237744"/>
          </a:xfrm>
          <a:prstGeom prst="rightArrow">
            <a:avLst/>
          </a:prstGeom>
          <a:solidFill>
            <a:srgbClr val="2F5B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80944" y="2967228"/>
            <a:ext cx="338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i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API</a:t>
            </a:r>
            <a:endParaRPr lang="en-US" sz="7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50" i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879592" y="2738628"/>
            <a:ext cx="237744" cy="237744"/>
          </a:xfrm>
          <a:prstGeom prst="rightArrow">
            <a:avLst/>
          </a:prstGeom>
          <a:solidFill>
            <a:srgbClr val="2F5B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24728" y="2967228"/>
            <a:ext cx="338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i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Sanitized</a:t>
            </a:r>
            <a:endParaRPr lang="en-US" sz="7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50" i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Compl.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22960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05840"/>
            <a:ext cx="64008" cy="1143000"/>
          </a:xfrm>
          <a:prstGeom prst="rect">
            <a:avLst/>
          </a:prstGeom>
          <a:solidFill>
            <a:srgbClr val="2F5B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96012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 1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Живой агентский цикл на локальной модели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7240" y="2514600"/>
            <a:ext cx="7589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B8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llama-server + ORS + Codex CLI решает задачу в реальном репозитории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B8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экране: скорость генерации и поток reasoning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B8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записанный ролик на случай капризов окружения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77240" y="4480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минуты, отрепетировано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28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берём из model card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Народные настройки из тредов ломают качество</a:t>
            </a:r>
            <a:endParaRPr lang="en-US" sz="12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2286000"/>
                <a:gridCol w="18288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Режим Qwen3.6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B8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B8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top_p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B8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presence_penalty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B8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Precise coding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E4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E4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 режиму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E4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Thinking / general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E4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E4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 (top_k 20)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E4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Non-thinking / instruct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E4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E4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E4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977640"/>
            <a:ext cx="54864" cy="713232"/>
          </a:xfrm>
          <a:prstGeom prst="rect">
            <a:avLst/>
          </a:prstGeom>
          <a:solidFill>
            <a:srgbClr val="2F5B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03504" y="3950208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temp 0.1 вредит: у reasoning-моделей низкая температура душит поиск решений, а вайб-цифры из тредов ломают распределение, под которое модель обучали. Карточка модели знает лучше треда.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22960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28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Контекст: цена и грабли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128-200K это рабочий диапазон агентского кодинга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41648" cy="32004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54864" cy="3200400"/>
          </a:xfrm>
          <a:prstGeom prst="rect">
            <a:avLst/>
          </a:prstGeom>
          <a:solidFill>
            <a:srgbClr val="9AA5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517904"/>
            <a:ext cx="3712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 KV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21792" y="1920240"/>
            <a:ext cx="371246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 ест VRAM линейно, и на 200K KV-кэш обгоняет веса. Квантизация KV (q8/q4) освобождает место под длину. После ~160-180K скорость заметно проседает почти на любом железе.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45152" y="1371600"/>
            <a:ext cx="4041648" cy="3200400"/>
          </a:xfrm>
          <a:prstGeom prst="rect">
            <a:avLst/>
          </a:prstGeom>
          <a:solidFill>
            <a:srgbClr val="ECF1F6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45152" y="1371600"/>
            <a:ext cx="54864" cy="3200400"/>
          </a:xfrm>
          <a:prstGeom prst="rect">
            <a:avLst/>
          </a:prstGeom>
          <a:solidFill>
            <a:srgbClr val="2F5B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9744" y="1517904"/>
            <a:ext cx="3712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Грабли гибридного кеша Qwen3.6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809744" y="1920240"/>
            <a:ext cx="371246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Гибридный attention ломает штатный prompt-кеш llama.cpp: в логе forcing full prompt re-processing, и каждый тёрн платит полный prefill заново. Смягчение: --ctx-checkpoints и запас RAM; полное решение в upstream-патчах (PR #24785).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28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Привычки, которые поднимают качество кода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041648" cy="169164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54864" cy="1691640"/>
          </a:xfrm>
          <a:prstGeom prst="rect">
            <a:avLst/>
          </a:prstGeom>
          <a:solidFill>
            <a:srgbClr val="2F5B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417320"/>
            <a:ext cx="3712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Маленькие шаги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21792" y="1810512"/>
            <a:ext cx="371246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Пошаговые задачи вместо one-shot. Локальной модели легче держать фокус на коротких итерациях; проверяешь и двигаешься дальше.</a:t>
            </a:r>
            <a:endParaRPr lang="en-US" sz="1030" dirty="0"/>
          </a:p>
        </p:txBody>
      </p:sp>
      <p:sp>
        <p:nvSpPr>
          <p:cNvPr id="7" name="Shape 5"/>
          <p:cNvSpPr/>
          <p:nvPr/>
        </p:nvSpPr>
        <p:spPr>
          <a:xfrm>
            <a:off x="4645152" y="1280160"/>
            <a:ext cx="4041648" cy="169164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45152" y="1280160"/>
            <a:ext cx="54864" cy="1691640"/>
          </a:xfrm>
          <a:prstGeom prst="rect">
            <a:avLst/>
          </a:prstGeom>
          <a:solidFill>
            <a:srgbClr val="2F5B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9744" y="1417320"/>
            <a:ext cx="3712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 и rules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809744" y="1810512"/>
            <a:ext cx="371246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Накапливаемый актив: каждый пойманный сбой превращается в правило. Через месяц агент знает твой проект и твои привычки.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4041648" cy="169164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108960"/>
            <a:ext cx="54864" cy="1691640"/>
          </a:xfrm>
          <a:prstGeom prst="rect">
            <a:avLst/>
          </a:prstGeom>
          <a:solidFill>
            <a:srgbClr val="2F5B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3246120"/>
            <a:ext cx="3712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Минимальные тесты стека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21792" y="3639312"/>
            <a:ext cx="371246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Короткий прогон перед работой: генерация, tool call, passback. Сервер отвечает, но агент при этом может лежать.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4645152" y="3108960"/>
            <a:ext cx="4041648" cy="169164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45152" y="3108960"/>
            <a:ext cx="54864" cy="1691640"/>
          </a:xfrm>
          <a:prstGeom prst="rect">
            <a:avLst/>
          </a:prstGeom>
          <a:solidFill>
            <a:srgbClr val="2F5B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9744" y="3246120"/>
            <a:ext cx="3712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Свежие сборки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809744" y="3639312"/>
            <a:ext cx="371246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log вместо даты релиза. Стеки прибавляют десятки процентов за недели; старый бинарь ест твою скорость молча.</a:t>
            </a:r>
            <a:endParaRPr lang="en-US" sz="1030" dirty="0"/>
          </a:p>
        </p:txBody>
      </p:sp>
      <p:sp>
        <p:nvSpPr>
          <p:cNvPr id="19" name="Text 17"/>
          <p:cNvSpPr/>
          <p:nvPr/>
        </p:nvSpPr>
        <p:spPr>
          <a:xfrm>
            <a:off x="822960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28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05840"/>
            <a:ext cx="64008" cy="1143000"/>
          </a:xfrm>
          <a:prstGeom prst="rect">
            <a:avLst/>
          </a:prstGeom>
          <a:solidFill>
            <a:srgbClr val="2F5B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96012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 2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MTP вживую: та же модель с драфтером и без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7240" y="2514600"/>
            <a:ext cx="7589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B8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модель, одно железо, два запуска подряд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B8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Разница в t/s на экране в реальном времени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B8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слайд с распределением скоростей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77240" y="4480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минуты, отрепетировано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28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Отставание от SOTA: честная рамка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локального класса уже хватает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41648" cy="265176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54864" cy="2651760"/>
          </a:xfrm>
          <a:prstGeom prst="rect">
            <a:avLst/>
          </a:prstGeom>
          <a:solidFill>
            <a:srgbClr val="9AA5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517904"/>
            <a:ext cx="3712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Уже хватает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21792" y="1920240"/>
            <a:ext cx="371246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Рутинные задачи и генерация в знакомом стеке. Агентские циклы с хорошим харнессом и накопленными rules. Закрытый контур, где облако недоступно по определению.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45152" y="1371600"/>
            <a:ext cx="4041648" cy="2651760"/>
          </a:xfrm>
          <a:prstGeom prst="rect">
            <a:avLst/>
          </a:prstGeom>
          <a:solidFill>
            <a:srgbClr val="ECF1F6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45152" y="1371600"/>
            <a:ext cx="54864" cy="2651760"/>
          </a:xfrm>
          <a:prstGeom prst="rect">
            <a:avLst/>
          </a:prstGeom>
          <a:solidFill>
            <a:srgbClr val="2F5B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9744" y="1517904"/>
            <a:ext cx="3712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 фронтир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809744" y="1920240"/>
            <a:ext cx="371246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Сложный reasoning на 200K контекста. Глубокий рефакторинг незнакомой кодовой базы. Задачи с высокой ценой ошибки без человеческой проверки.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4224528"/>
            <a:ext cx="54864" cy="548640"/>
          </a:xfrm>
          <a:prstGeom prst="rect">
            <a:avLst/>
          </a:prstGeom>
          <a:solidFill>
            <a:srgbClr val="2F5B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" y="4187952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Темп сжатия примерно 5x за 18 месяцев (оценка). Фронтир бежит так же: Gemini 3.5 Flash догнал Pro-класс за квартал. Разрыв держится, но планка того, что закрывается локально, ползёт вверх каждый квартал.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2960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28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Тренды и ставки (июнь 2026)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4041648" cy="16002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25880"/>
            <a:ext cx="54864" cy="1600200"/>
          </a:xfrm>
          <a:prstGeom prst="rect">
            <a:avLst/>
          </a:prstGeom>
          <a:solidFill>
            <a:srgbClr val="2F5B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472184"/>
            <a:ext cx="3712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 и MTP как доминирующее направление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21792" y="1856232"/>
            <a:ext cx="3712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Скорость отвязана от общего размера. MoE и встроенный MTP позволяют запускать 120B быстрее малых dense-сетей.</a:t>
            </a:r>
            <a:endParaRPr lang="en-US" sz="1030" dirty="0"/>
          </a:p>
        </p:txBody>
      </p:sp>
      <p:sp>
        <p:nvSpPr>
          <p:cNvPr id="7" name="Shape 5"/>
          <p:cNvSpPr/>
          <p:nvPr/>
        </p:nvSpPr>
        <p:spPr>
          <a:xfrm>
            <a:off x="4645152" y="1325880"/>
            <a:ext cx="4041648" cy="16002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45152" y="1325880"/>
            <a:ext cx="54864" cy="1600200"/>
          </a:xfrm>
          <a:prstGeom prst="rect">
            <a:avLst/>
          </a:prstGeom>
          <a:solidFill>
            <a:srgbClr val="2F5B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9744" y="1472184"/>
            <a:ext cx="3712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возможностей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809744" y="1856232"/>
            <a:ext cx="3712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 назад нужно было 27B и 24 GB, сегодня тот же функционал даёт класс 2B (Gemma E2B). Ставка: за год ~8B вместит 30-35B. Цель Gemma - уровень 31B на телефоне (заявленная аспирация).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457200" y="3063240"/>
            <a:ext cx="4041648" cy="16002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063240"/>
            <a:ext cx="54864" cy="1600200"/>
          </a:xfrm>
          <a:prstGeom prst="rect">
            <a:avLst/>
          </a:prstGeom>
          <a:solidFill>
            <a:srgbClr val="2F5B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3209544"/>
            <a:ext cx="3712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Быстрое устаревание бенчмарков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21792" y="3593592"/>
            <a:ext cx="3712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Стеки (llama.cpp, MLX, vLLM) прибавляют десятки процентов за недели (в наших замерах +82% за три недели). Важна сборка из исходников.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4645152" y="3063240"/>
            <a:ext cx="4041648" cy="16002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45152" y="3063240"/>
            <a:ext cx="54864" cy="1600200"/>
          </a:xfrm>
          <a:prstGeom prst="rect">
            <a:avLst/>
          </a:prstGeom>
          <a:solidFill>
            <a:srgbClr val="2F5B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9744" y="3209544"/>
            <a:ext cx="3712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Инференс как базовый навык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809744" y="3593592"/>
            <a:ext cx="3712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Локальный запуск прошёл путь от хобби до рабочего навыка. Понимание VRAM, пропускной способности и KV-кэша это фундамент экономики инференса.</a:t>
            </a:r>
            <a:endParaRPr lang="en-US" sz="1030" dirty="0"/>
          </a:p>
        </p:txBody>
      </p:sp>
      <p:sp>
        <p:nvSpPr>
          <p:cNvPr id="19" name="Text 17"/>
          <p:cNvSpPr/>
          <p:nvPr/>
        </p:nvSpPr>
        <p:spPr>
          <a:xfrm>
            <a:off x="822960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28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Экономика инференса на масштабе (5000 пользователей)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SLA: 5000 одновременных пользователей, 30 t/s, контекст 200k. Те же законы одной карты определяют CAPEX в сотни миллионов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651760" cy="29718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08760"/>
            <a:ext cx="54864" cy="2971800"/>
          </a:xfrm>
          <a:prstGeom prst="rect">
            <a:avLst/>
          </a:prstGeom>
          <a:solidFill>
            <a:srgbClr val="9AA5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65506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300B MoE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03504" y="20116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30-40B активных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03504" y="23500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~2000 B200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03504" y="28072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$150M-$225M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3504" y="3136392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Энергия ~$3.8M-$4.8M / год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508760"/>
            <a:ext cx="2651760" cy="2971800"/>
          </a:xfrm>
          <a:prstGeom prst="rect">
            <a:avLst/>
          </a:prstGeom>
          <a:solidFill>
            <a:srgbClr val="ECF1F6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508760"/>
            <a:ext cx="54864" cy="2971800"/>
          </a:xfrm>
          <a:prstGeom prst="rect">
            <a:avLst/>
          </a:prstGeom>
          <a:solidFill>
            <a:srgbClr val="2F5B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92424" y="165506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30B Dense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92424" y="20116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Qwen-style, паритет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92424" y="23500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5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~2000 B200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392424" y="28072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$150M-$225M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92424" y="3136392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ТБ KV-кэша становятся главным боттлнеком инфраструктуры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35040" y="1508760"/>
            <a:ext cx="2651760" cy="29718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1508760"/>
            <a:ext cx="54864" cy="2971800"/>
          </a:xfrm>
          <a:prstGeom prst="rect">
            <a:avLst/>
          </a:prstGeom>
          <a:solidFill>
            <a:srgbClr val="9AA5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81344" y="165506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E4B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81344" y="20116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нижняя граница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81344" y="23500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~160 B200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181344" y="28072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$12M-$18M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81344" y="3136392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Железо дешёвое, но класс модели пока не тянет сложный 200K-reasoning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864608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Оценочная sizing-модель поверх официальных спеков; служит ориентиром порядка величин.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22960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28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чего начать сегодня вечером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одному первому шагу на класс железа</a:t>
            </a:r>
            <a:endParaRPr lang="en-US" sz="125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65836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Железо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B8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Первый шаг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B8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GB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E4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Gemma 4 12B, официальный QAT Q4_0, llama.cpp или LM Studio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GB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E4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Qwen3.6-27B pure Q4 + MTP, контекст до 64K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GB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E4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Qwen3.6-27B mixed Q4 + MTP, либо 35B-A3B MoE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GB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E4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NVFP4-чекпойнт через vLLM, контекст до 218K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 64 GB+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E4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gpt-oss-120b или 35B MoE через llama.cpp / MLX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гайд (конфиги, троблшутинг, экономика, ~1770 строк): ссылка в описании сессии и в Telegram.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22960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28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" cy="658368"/>
          </a:xfrm>
          <a:prstGeom prst="rect">
            <a:avLst/>
          </a:prstGeom>
          <a:solidFill>
            <a:srgbClr val="2F5B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7548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Контакты и репозитории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49808" y="1572768"/>
            <a:ext cx="54864" cy="548640"/>
          </a:xfrm>
          <a:prstGeom prst="rect">
            <a:avLst/>
          </a:prstGeom>
          <a:solidFill>
            <a:srgbClr val="2F5B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544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400" dirty="0"/>
          </a:p>
        </p:txBody>
      </p:sp>
      <p:sp>
        <p:nvSpPr>
          <p:cNvPr id="6" name="Text 4">
            <a:hlinkClick r:id="rId1" tooltip=""/>
          </p:cNvPr>
          <p:cNvSpPr/>
          <p:nvPr/>
        </p:nvSpPr>
        <p:spPr>
          <a:xfrm>
            <a:off x="914400" y="1865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u="sng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github.com/ivanopcode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49808" y="2322576"/>
            <a:ext cx="54864" cy="548640"/>
          </a:xfrm>
          <a:prstGeom prst="rect">
            <a:avLst/>
          </a:prstGeom>
          <a:solidFill>
            <a:srgbClr val="2F5B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30428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</a:t>
            </a:r>
            <a:endParaRPr lang="en-US" sz="1400" dirty="0"/>
          </a:p>
        </p:txBody>
      </p:sp>
      <p:sp>
        <p:nvSpPr>
          <p:cNvPr id="9" name="Text 7">
            <a:hlinkClick r:id="rId2" tooltip=""/>
          </p:cNvPr>
          <p:cNvSpPr/>
          <p:nvPr/>
        </p:nvSpPr>
        <p:spPr>
          <a:xfrm>
            <a:off x="914400" y="261518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u="sng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t.me/ivanopcode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49808" y="3072384"/>
            <a:ext cx="54864" cy="548640"/>
          </a:xfrm>
          <a:prstGeom prst="rect">
            <a:avLst/>
          </a:prstGeom>
          <a:solidFill>
            <a:srgbClr val="2F5B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054096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Агентская инфраструктура (Partner Mobile)</a:t>
            </a:r>
            <a:endParaRPr lang="en-US" sz="1400" dirty="0"/>
          </a:p>
        </p:txBody>
      </p:sp>
      <p:sp>
        <p:nvSpPr>
          <p:cNvPr id="12" name="Text 10">
            <a:hlinkClick r:id="rId3" tooltip=""/>
          </p:cNvPr>
          <p:cNvSpPr/>
          <p:nvPr/>
        </p:nvSpPr>
        <p:spPr>
          <a:xfrm>
            <a:off x="914400" y="33649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u="sng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gitlab.wildberries.ru/portals/partner-mobile/agentic-infra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49808" y="3822192"/>
            <a:ext cx="54864" cy="548640"/>
          </a:xfrm>
          <a:prstGeom prst="rect">
            <a:avLst/>
          </a:prstGeom>
          <a:solidFill>
            <a:srgbClr val="2F5B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80390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CocoaSkills</a:t>
            </a:r>
            <a:endParaRPr lang="en-US" sz="1400" dirty="0"/>
          </a:p>
        </p:txBody>
      </p:sp>
      <p:sp>
        <p:nvSpPr>
          <p:cNvPr id="15" name="Text 13">
            <a:hlinkClick r:id="rId4" tooltip=""/>
          </p:cNvPr>
          <p:cNvSpPr/>
          <p:nvPr/>
        </p:nvSpPr>
        <p:spPr>
          <a:xfrm>
            <a:off x="914400" y="4114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u="sng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github.com/ivanopcode/cocoaskills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49808" y="4645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Иван Опарин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28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Локальный инференс LLM</dc:title>
  <dc:subject>PptxGenJS Presentation</dc:subject>
  <dc:creator>Ivan Oparin</dc:creator>
  <cp:lastModifiedBy>Ivan Oparin</cp:lastModifiedBy>
  <cp:revision>1</cp:revision>
  <dcterms:created xsi:type="dcterms:W3CDTF">2026-07-06T18:27:56Z</dcterms:created>
  <dcterms:modified xsi:type="dcterms:W3CDTF">2026-07-06T18:27:56Z</dcterms:modified>
</cp:coreProperties>
</file>